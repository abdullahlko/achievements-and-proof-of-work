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74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8063-AD06-47DA-B3E3-27AC7D7DB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A5FE-7E4E-40E3-988D-E50DF466D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5713-2C22-44A5-B1A0-ECDB99E8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A1204-1941-48CD-A8DF-7F7DBAD4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766A4-422E-4011-8F22-25BF9ED1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39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04C6A-E15A-43DC-8729-8DA8BD31B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5FFFE-8F3E-47B6-9F0F-591B02EC5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CE03-8317-4DB6-84E3-D7607D2B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3201-B596-4C17-9C41-C4086AF3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1087D-8AFC-4A60-BBDD-F89A0680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264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BAEC-C5F6-4350-8B70-3215F2D3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E5373-3114-41F2-9122-4948AB6F0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64CC1-F6DF-4D57-9E81-19060A79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E3549-9C99-4C81-96FA-B2C5907C3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2ED2E-5251-45B0-A705-305C41EB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36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CD64-A1D9-4683-8C29-6C2F1A1E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95419-13F9-4E49-8571-0AA5DA814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057A9-115A-4533-957C-CB1DA6666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95D6D-9166-4DFA-9DE6-EBF6309E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C3BBB-8144-416B-9282-E8B29840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C1858-72DD-4730-91E9-5234116C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02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6A32-9448-401A-B908-07DFFB18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704BB-823F-4B1E-8563-22D32671D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6C6F4-216A-4D12-A58C-B5DAC8DEE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288A1-7A85-4C2D-A751-F30C367B3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3C894-35A1-44F4-8959-5ACC4EA5F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5D140-D5CE-4B58-BBD1-3C561C75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42DDE-24E6-4520-9286-FEDA8C3A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D8D1BD-63E2-478D-A760-CA428FDF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42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7CE9-DED6-499C-A869-FD1812E4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4F161-9474-4EC5-AB4E-BAEED638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9DF5B-0612-4FF5-A9F7-A4502482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B7FAA-CE57-4B90-9E55-EB8B4136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9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ACDDEB-D50F-4383-A57C-A7CC4FBE3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67671-8A80-4AA1-85DE-3F7AFC0F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AE829-82FB-4BBD-90E9-95420055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558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9985-4EBA-425B-AFBF-1762E5A8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EB49-3B6C-49B4-90B2-A544D2DA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73DB65-4D99-4D00-854A-39EABB6CF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A8A9C-2BD3-466A-913B-B347909B1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3CF90-C8B5-4BB0-90A2-FADBCD1B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DA8F0-A6EB-4397-940C-69B3A509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00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A84F-39A9-47A4-8645-6AE5F84B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54CE5-DC47-4370-B15E-42DAA38AC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9B0FA-7E46-4160-89AA-48A10C520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3D924-3B13-4D76-9FAF-7A2C9D4C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A332D-6B08-4DE8-9D52-50E428B0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9E0DD-8CA2-4ACF-AE13-5BC243FC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42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0800-2B68-43AC-8CC4-5376AAFB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48435-D2A2-41A7-A484-E2E4B4EBB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19655-2192-4CEB-89CB-1A5C95B2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65F4A-A6B2-4993-92F0-534A40D52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A9BFF-C84B-488E-993D-FC1A3B85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66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D7C29-6BCF-4043-8344-B39DF3D8D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4DA68-3B5C-48F2-9C7E-9D4A3108A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F35DD-5A99-4D72-98E7-DCDFC562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7C66-0FCB-447C-9C05-A8EA9EF8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9319D-8188-4CB6-9EA3-7073FAB1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54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61009-0E53-4CCF-B40F-695F3741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7015E-18CB-48D7-AE3C-E5AE9AC45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A1AEA-E90B-4A3B-85B5-2495AC059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44DC9-A99C-4656-999C-242C0CEE86D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BF5EA-E465-4A88-9B28-52A2E4F23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6CD23-6026-4A42-BD84-334E4B2A48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9D360-8D29-481E-9DD6-3CD108D503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42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pIud-eKHvGcUZSmiaDLJylouVNhkToR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iveshsathi-theta.vercel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2F1CA14C-033D-457B-A70E-5E8925BE1E4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5;p14" title="hackathon 5.png">
            <a:extLst>
              <a:ext uri="{FF2B5EF4-FFF2-40B4-BE49-F238E27FC236}">
                <a16:creationId xmlns:a16="http://schemas.microsoft.com/office/drawing/2014/main" id="{24FEC864-073C-4D8F-8637-CF9445708D1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-304800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544412-2E0B-4E4D-AC44-41269D389D14}"/>
              </a:ext>
            </a:extLst>
          </p:cNvPr>
          <p:cNvSpPr txBox="1"/>
          <p:nvPr/>
        </p:nvSpPr>
        <p:spPr>
          <a:xfrm>
            <a:off x="7257143" y="1124612"/>
            <a:ext cx="6183084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O</a:t>
            </a:r>
            <a:r>
              <a:rPr lang="en-IN" sz="2000" i="1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RGANIZER: </a:t>
            </a:r>
            <a:r>
              <a:rPr lang="en-IN" sz="2000" b="1" i="1" dirty="0">
                <a:solidFill>
                  <a:srgbClr val="202729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GFG CAMPUS BODY RBU</a:t>
            </a:r>
            <a:endParaRPr lang="en-GB" sz="2000" i="1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E87DE6-FBA3-41D1-9573-C5B8885A723F}"/>
              </a:ext>
            </a:extLst>
          </p:cNvPr>
          <p:cNvSpPr/>
          <p:nvPr/>
        </p:nvSpPr>
        <p:spPr>
          <a:xfrm>
            <a:off x="663774" y="272996"/>
            <a:ext cx="1086445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BYTE QUEST - HACKATHON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F9953-788C-4AD0-A9D9-FAC258CE8298}"/>
              </a:ext>
            </a:extLst>
          </p:cNvPr>
          <p:cNvSpPr txBox="1"/>
          <p:nvPr/>
        </p:nvSpPr>
        <p:spPr>
          <a:xfrm>
            <a:off x="7714257" y="5488422"/>
            <a:ext cx="4085770" cy="445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80000"/>
              </a:lnSpc>
            </a:pPr>
            <a:r>
              <a:rPr lang="en-GB" sz="2800" dirty="0">
                <a:solidFill>
                  <a:srgbClr val="202729"/>
                </a:solidFill>
                <a:ea typeface="Google Sans SemiBold"/>
                <a:cs typeface="Google Sans SemiBold"/>
                <a:sym typeface="Google Sans SemiBold"/>
              </a:rPr>
              <a:t>Team Name : </a:t>
            </a:r>
            <a:r>
              <a:rPr lang="en-GB" sz="2800" b="1" dirty="0">
                <a:solidFill>
                  <a:srgbClr val="202729"/>
                </a:solidFill>
                <a:ea typeface="Google Sans SemiBold"/>
                <a:cs typeface="Google Sans SemiBold"/>
                <a:sym typeface="Google Sans SemiBold"/>
              </a:rPr>
              <a:t>CODEVATIVE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EDF23-F87F-43A0-B959-276156A8F3B8}"/>
              </a:ext>
            </a:extLst>
          </p:cNvPr>
          <p:cNvSpPr txBox="1"/>
          <p:nvPr/>
        </p:nvSpPr>
        <p:spPr>
          <a:xfrm>
            <a:off x="8671777" y="1404334"/>
            <a:ext cx="3287994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1" dirty="0">
                <a:latin typeface="Google Sans SemiBold"/>
              </a:rPr>
              <a:t>Date:</a:t>
            </a:r>
            <a:r>
              <a:rPr lang="en-IN" sz="2000" i="1" dirty="0">
                <a:latin typeface="Google Sans SemiBold"/>
              </a:rPr>
              <a:t> 3 - 4 January 2026</a:t>
            </a:r>
            <a:endParaRPr lang="en-GB" sz="2000" b="1" i="1" dirty="0">
              <a:solidFill>
                <a:srgbClr val="202729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2242AA-CF76-4843-BAAB-FA665D852811}"/>
              </a:ext>
            </a:extLst>
          </p:cNvPr>
          <p:cNvSpPr txBox="1"/>
          <p:nvPr/>
        </p:nvSpPr>
        <p:spPr>
          <a:xfrm>
            <a:off x="504030" y="2556005"/>
            <a:ext cx="11295997" cy="2018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800" dirty="0">
                <a:solidFill>
                  <a:srgbClr val="202729"/>
                </a:solidFill>
                <a:latin typeface="Google Sans SemiBold"/>
                <a:ea typeface="Google Sans SemiBold"/>
                <a:cs typeface="Arial" panose="020B0604020202020204" pitchFamily="34" charset="0"/>
                <a:sym typeface="Google Sans SemiBold"/>
              </a:rPr>
            </a:br>
            <a:br>
              <a:rPr lang="en-GB" sz="2800" dirty="0">
                <a:solidFill>
                  <a:srgbClr val="202729"/>
                </a:solidFill>
                <a:latin typeface="Google Sans SemiBold"/>
                <a:ea typeface="Google Sans SemiBold"/>
                <a:cs typeface="Arial" panose="020B0604020202020204" pitchFamily="34" charset="0"/>
                <a:sym typeface="Google Sans SemiBold"/>
              </a:rPr>
            </a:br>
            <a:r>
              <a:rPr lang="en-US" sz="2800" dirty="0"/>
              <a:t>Problem Statement - 13</a:t>
            </a:r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b="1" u="sng" dirty="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/>
              <a:t>Investing for Everyone - A Micro-Investment Platform </a:t>
            </a:r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u="sng" dirty="0"/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/>
              <a:t>for First-Time Users</a:t>
            </a:r>
            <a:endParaRPr lang="en-GB" sz="2800" b="1" u="sng" dirty="0">
              <a:solidFill>
                <a:srgbClr val="202729"/>
              </a:solidFill>
              <a:latin typeface="Google Sans SemiBold"/>
              <a:ea typeface="Google Sans SemiBold"/>
              <a:cs typeface="Arial" panose="020B0604020202020204" pitchFamily="34" charset="0"/>
              <a:sym typeface="Google Sans Semi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4BC9ED-CCBC-4468-99B6-F44B0CA9A558}"/>
              </a:ext>
            </a:extLst>
          </p:cNvPr>
          <p:cNvSpPr txBox="1"/>
          <p:nvPr/>
        </p:nvSpPr>
        <p:spPr>
          <a:xfrm>
            <a:off x="663774" y="1919499"/>
            <a:ext cx="2369713" cy="101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800" dirty="0">
                <a:solidFill>
                  <a:srgbClr val="202729"/>
                </a:solidFill>
                <a:latin typeface="Google Sans SemiBold"/>
                <a:ea typeface="Google Sans SemiBold"/>
                <a:cs typeface="Arial" panose="020B0604020202020204" pitchFamily="34" charset="0"/>
                <a:sym typeface="Google Sans SemiBold"/>
              </a:rPr>
            </a:br>
            <a:br>
              <a:rPr lang="en-GB" sz="2800" dirty="0">
                <a:solidFill>
                  <a:srgbClr val="202729"/>
                </a:solidFill>
                <a:latin typeface="Google Sans SemiBold"/>
                <a:ea typeface="Google Sans SemiBold"/>
                <a:cs typeface="Arial" panose="020B0604020202020204" pitchFamily="34" charset="0"/>
                <a:sym typeface="Google Sans SemiBold"/>
              </a:rPr>
            </a:br>
            <a:r>
              <a:rPr lang="en-US" sz="2800" dirty="0"/>
              <a:t>Track: </a:t>
            </a:r>
            <a:r>
              <a:rPr lang="en-US" sz="2800" b="1" u="sng" dirty="0">
                <a:solidFill>
                  <a:srgbClr val="202729"/>
                </a:solidFill>
                <a:latin typeface="Google Sans SemiBold"/>
                <a:ea typeface="Google Sans SemiBold"/>
                <a:cs typeface="Arial" panose="020B0604020202020204" pitchFamily="34" charset="0"/>
                <a:sym typeface="Google Sans SemiBold"/>
              </a:rPr>
              <a:t>Fintech</a:t>
            </a:r>
            <a:endParaRPr lang="en-GB" sz="2800" b="1" u="sng" dirty="0">
              <a:solidFill>
                <a:srgbClr val="202729"/>
              </a:solidFill>
              <a:latin typeface="Google Sans SemiBold"/>
              <a:ea typeface="Google Sans SemiBold"/>
              <a:cs typeface="Arial" panose="020B0604020202020204" pitchFamily="34" charset="0"/>
              <a:sym typeface="Google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22652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5;p14" title="hackathon 5.png">
            <a:extLst>
              <a:ext uri="{FF2B5EF4-FFF2-40B4-BE49-F238E27FC236}">
                <a16:creationId xmlns:a16="http://schemas.microsoft.com/office/drawing/2014/main" id="{DECC054D-C1B1-47DB-826F-DE2F12C05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474268-63FE-4F9D-BCD8-5F07118C9CB1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0B720-B046-4F08-AC06-0CA69AD28E86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9" name="Google Shape;55;p14" title="hackathon 5.png">
            <a:extLst>
              <a:ext uri="{FF2B5EF4-FFF2-40B4-BE49-F238E27FC236}">
                <a16:creationId xmlns:a16="http://schemas.microsoft.com/office/drawing/2014/main" id="{5A172F4F-2907-43CB-B11C-F518459097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60B6CC-15C8-4311-8979-29F4C5E22716}"/>
              </a:ext>
            </a:extLst>
          </p:cNvPr>
          <p:cNvSpPr txBox="1"/>
          <p:nvPr/>
        </p:nvSpPr>
        <p:spPr>
          <a:xfrm>
            <a:off x="304502" y="974469"/>
            <a:ext cx="6335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 Rounded MT Bold" panose="020F0704030504030204" pitchFamily="34" charset="0"/>
              </a:rPr>
              <a:t>OUR SOLUTION: </a:t>
            </a:r>
            <a:r>
              <a:rPr lang="en-IN" sz="2800" u="sng" dirty="0" err="1">
                <a:solidFill>
                  <a:srgbClr val="167439"/>
                </a:solidFill>
                <a:latin typeface="Arial Rounded MT Bold" panose="020F0704030504030204" pitchFamily="34" charset="0"/>
              </a:rPr>
              <a:t>NiveshSathi</a:t>
            </a:r>
            <a:endParaRPr lang="en-IN" sz="2800" u="sng" dirty="0">
              <a:solidFill>
                <a:srgbClr val="167439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CFE20-2255-4CDA-A317-8F531634622E}"/>
              </a:ext>
            </a:extLst>
          </p:cNvPr>
          <p:cNvSpPr txBox="1"/>
          <p:nvPr/>
        </p:nvSpPr>
        <p:spPr>
          <a:xfrm>
            <a:off x="304502" y="2046229"/>
            <a:ext cx="7213303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 err="1">
                <a:solidFill>
                  <a:srgbClr val="167439"/>
                </a:solidFill>
              </a:rPr>
              <a:t>NiveshSathi</a:t>
            </a:r>
            <a:r>
              <a:rPr lang="en-US" sz="2200" dirty="0"/>
              <a:t> is a </a:t>
            </a:r>
            <a:r>
              <a:rPr lang="en-US" sz="2200" b="1" dirty="0"/>
              <a:t>user-first micro-investment platform</a:t>
            </a:r>
            <a:r>
              <a:rPr lang="en-US" sz="2200" dirty="0"/>
              <a:t> designed especially for </a:t>
            </a:r>
            <a:r>
              <a:rPr lang="en-US" sz="2200" b="1" dirty="0"/>
              <a:t>first-time investors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It allows users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Start investing with </a:t>
            </a:r>
            <a:r>
              <a:rPr lang="en-US" sz="2200" b="1" dirty="0"/>
              <a:t>as low as ₹10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Choose </a:t>
            </a:r>
            <a:r>
              <a:rPr lang="en-US" sz="2200" b="1" dirty="0"/>
              <a:t>safe and low-risk investment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Learn investing in a </a:t>
            </a:r>
            <a:r>
              <a:rPr lang="en-US" sz="2200" b="1" dirty="0"/>
              <a:t>simple and stress-free 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 the platform easily on </a:t>
            </a:r>
            <a:r>
              <a:rPr lang="en-US" sz="2200" b="1" dirty="0"/>
              <a:t>low-end smartphones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Access the platform in Hindi</a:t>
            </a:r>
            <a:r>
              <a:rPr lang="en-US" sz="2200" dirty="0"/>
              <a:t>, making it inclusive for rural and semi-urban users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9A9505-3384-4DF4-865D-F7AC66E66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02" y="690180"/>
            <a:ext cx="4267796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1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87980DDB-0DE9-42B9-8166-B31EAE55EF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44F9FC-93E9-473F-9EF3-96D8D9ECAB23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9A71D9-4A30-4A12-8118-02E78902F223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F9267A71-9DFD-4232-9578-CD07BBAA3D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974EA3-90BF-4781-9918-1981522335BB}"/>
              </a:ext>
            </a:extLst>
          </p:cNvPr>
          <p:cNvSpPr txBox="1"/>
          <p:nvPr/>
        </p:nvSpPr>
        <p:spPr>
          <a:xfrm>
            <a:off x="308428" y="911162"/>
            <a:ext cx="87194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How </a:t>
            </a:r>
            <a:r>
              <a:rPr lang="en-US" sz="2800" dirty="0" err="1">
                <a:solidFill>
                  <a:srgbClr val="167439"/>
                </a:solidFill>
                <a:latin typeface="Arial Rounded MT Bold" panose="020F0704030504030204" pitchFamily="34" charset="0"/>
              </a:rPr>
              <a:t>NiveshSathi</a:t>
            </a:r>
            <a:r>
              <a:rPr lang="en-US" sz="2800" dirty="0">
                <a:solidFill>
                  <a:srgbClr val="167439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latin typeface="Arial Rounded MT Bold" panose="020F0704030504030204" pitchFamily="34" charset="0"/>
              </a:rPr>
              <a:t>is different from existing Investment solutions?</a:t>
            </a:r>
            <a:endParaRPr lang="en-IN" sz="2800" u="sng" dirty="0">
              <a:solidFill>
                <a:srgbClr val="167439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3729B98-3C29-4DB7-B62F-7E3230DA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3584"/>
              </p:ext>
            </p:extLst>
          </p:nvPr>
        </p:nvGraphicFramePr>
        <p:xfrm>
          <a:off x="838199" y="2289238"/>
          <a:ext cx="10515600" cy="3749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34455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38749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b="1" u="sng" dirty="0"/>
                        <a:t>Limitation in Existing Platforms</a:t>
                      </a:r>
                      <a:endParaRPr lang="en-IN" sz="24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u="sng" dirty="0" err="1"/>
                        <a:t>NiveshSathi</a:t>
                      </a:r>
                      <a:r>
                        <a:rPr lang="en-IN" sz="2400" b="1" u="sng" dirty="0"/>
                        <a:t> Approach</a:t>
                      </a:r>
                      <a:endParaRPr lang="en-IN" sz="2400" u="sng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068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Apps assume users are experienced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Step-by-step </a:t>
                      </a:r>
                      <a:r>
                        <a:rPr lang="en-US" b="1" dirty="0"/>
                        <a:t>guided onboarding</a:t>
                      </a:r>
                      <a:r>
                        <a:rPr lang="en-US" dirty="0"/>
                        <a:t> using income, risk, and savings goal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599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High minimum 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Start safely with </a:t>
                      </a:r>
                      <a:r>
                        <a:rPr lang="en-US" b="1"/>
                        <a:t>as low as ₹10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29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Financial terms are confusing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Simple lessons and short videos</a:t>
                      </a:r>
                      <a:r>
                        <a:rPr lang="en-US"/>
                        <a:t> teach investing basics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45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Complex dashboards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Simple tracker</a:t>
                      </a:r>
                      <a:r>
                        <a:rPr lang="en-US" dirty="0"/>
                        <a:t> shows portfolio, returns, and goals clearly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42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Lack of 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Suggests </a:t>
                      </a:r>
                      <a:r>
                        <a:rPr lang="en-US" b="1"/>
                        <a:t>investment amounts and plans based on user input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770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Not beginner-friendly user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Intuitive, guided interface designed for first-time investors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06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16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A2EB94A7-F593-4C4A-B6A4-F4959BD495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7CAAC8-2B61-4D5F-B4E9-C59A69A7D9CF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45E90-3302-4678-8603-9CFEB94B6DFB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7B9A0EAD-6DF8-42B9-A13E-A753D57FA6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4E19E0-84E5-43CA-B809-17A24C29FCAA}"/>
              </a:ext>
            </a:extLst>
          </p:cNvPr>
          <p:cNvSpPr txBox="1"/>
          <p:nvPr/>
        </p:nvSpPr>
        <p:spPr>
          <a:xfrm>
            <a:off x="457196" y="891952"/>
            <a:ext cx="7038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rgbClr val="167439"/>
                </a:solidFill>
              </a:rPr>
              <a:t>NiveshSathi</a:t>
            </a:r>
            <a:r>
              <a:rPr lang="en-IN" sz="2800" b="1" dirty="0"/>
              <a:t> - User Interaction Flow Diagram</a:t>
            </a:r>
            <a:endParaRPr lang="en-IN" sz="2800" b="1" u="sng" dirty="0">
              <a:solidFill>
                <a:srgbClr val="167439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2E5763-1F53-4D5F-A5FB-3C170F53A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755" y="1825122"/>
            <a:ext cx="976448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53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7C6495B2-04A6-4F19-B5BA-C8B167A112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5E8BAB-0531-436F-A0C8-8891B356431C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A407A-C549-4D28-9037-85C554A70B0C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6CD9BD3D-3323-49AF-83F5-D5B07E080C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2A86D5-9D3F-4E8A-8AD8-121C98D9A8A9}"/>
              </a:ext>
            </a:extLst>
          </p:cNvPr>
          <p:cNvSpPr txBox="1"/>
          <p:nvPr/>
        </p:nvSpPr>
        <p:spPr>
          <a:xfrm>
            <a:off x="587186" y="831555"/>
            <a:ext cx="6333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Technology Stack</a:t>
            </a:r>
            <a:endParaRPr lang="en-IN" sz="2800" u="sng" dirty="0">
              <a:solidFill>
                <a:srgbClr val="167439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BB803-5495-4599-A4F7-EA0BB4F1B0D1}"/>
              </a:ext>
            </a:extLst>
          </p:cNvPr>
          <p:cNvSpPr txBox="1"/>
          <p:nvPr/>
        </p:nvSpPr>
        <p:spPr>
          <a:xfrm>
            <a:off x="282510" y="1824205"/>
            <a:ext cx="111005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Frontend:</a:t>
            </a:r>
            <a:r>
              <a:rPr lang="en-IN" sz="2000" dirty="0"/>
              <a:t> HTML, CSS,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UI/UX Design:</a:t>
            </a:r>
            <a:r>
              <a:rPr lang="en-IN" sz="2000" dirty="0"/>
              <a:t> Mobile-first &amp; user-friendly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Logic Implementation:</a:t>
            </a:r>
            <a:r>
              <a:rPr lang="en-IN" sz="2000" dirty="0"/>
              <a:t> Lightweight and efficient client-side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Our focus was on </a:t>
            </a:r>
            <a:r>
              <a:rPr lang="en-IN" sz="2000" b="1" dirty="0"/>
              <a:t>performance, simplicity, and accessibility</a:t>
            </a:r>
            <a:r>
              <a:rPr lang="en-IN" sz="2000" dirty="0"/>
              <a:t> rather than heavy frameworks.</a:t>
            </a:r>
          </a:p>
        </p:txBody>
      </p:sp>
      <p:pic>
        <p:nvPicPr>
          <p:cNvPr id="18" name="Picture 2" descr="Ante-P92 - HTML, CSS and JavaScript">
            <a:extLst>
              <a:ext uri="{FF2B5EF4-FFF2-40B4-BE49-F238E27FC236}">
                <a16:creationId xmlns:a16="http://schemas.microsoft.com/office/drawing/2014/main" id="{E74A88AA-F271-4AE9-87B3-1C6F92DAD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946" y="3218178"/>
            <a:ext cx="5206105" cy="141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24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07EEEF29-38B2-441A-A0FE-1A607B3E78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30729D-4DD3-46A6-81AB-1E63CDA6A7A7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6A755-9668-4118-B60B-5EE03E4438BE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1801FAB2-46E9-418E-A012-C259FBD8542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156E97-7561-464B-902D-BF45CB38C22A}"/>
              </a:ext>
            </a:extLst>
          </p:cNvPr>
          <p:cNvSpPr txBox="1"/>
          <p:nvPr/>
        </p:nvSpPr>
        <p:spPr>
          <a:xfrm>
            <a:off x="342900" y="810416"/>
            <a:ext cx="6333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 Rounded MT Bold" panose="020F0704030504030204" pitchFamily="34" charset="0"/>
              </a:rPr>
              <a:t>IMPACT &amp; PRACTICALITY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EA646-321D-452C-8664-A7B59911D460}"/>
              </a:ext>
            </a:extLst>
          </p:cNvPr>
          <p:cNvSpPr txBox="1"/>
          <p:nvPr/>
        </p:nvSpPr>
        <p:spPr>
          <a:xfrm>
            <a:off x="342901" y="1843950"/>
            <a:ext cx="59609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Real-World Impact</a:t>
            </a:r>
            <a:br>
              <a:rPr lang="en-US" sz="2000" b="1" dirty="0"/>
            </a:b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Encourages </a:t>
            </a:r>
            <a:r>
              <a:rPr lang="en-US" sz="2000" b="1" dirty="0"/>
              <a:t>financial inclusion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users develop </a:t>
            </a:r>
            <a:r>
              <a:rPr lang="en-US" sz="2000" b="1" dirty="0"/>
              <a:t>long-term saving habits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fear around investing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Practical and scalable for real-world adoption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Who benefits?</a:t>
            </a:r>
            <a:br>
              <a:rPr lang="en-US" sz="2000" dirty="0"/>
            </a:br>
            <a:r>
              <a:rPr lang="en-US" sz="2000" dirty="0"/>
              <a:t>Students, daily wage workers, rural citizens, and anyone new to investing.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113C61-65B1-4E5B-867A-1C7A77B4D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464" y="1843950"/>
            <a:ext cx="4964015" cy="335458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5908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BC34D079-ED1C-4C84-9B90-377909FD11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DD3C2-657E-493C-AB2E-2E2C69079680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EAA5C-6CCB-43C0-AF65-0840012B3FB5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AAC02-3F45-48A5-BC45-CD2BF8934865}"/>
              </a:ext>
            </a:extLst>
          </p:cNvPr>
          <p:cNvSpPr txBox="1"/>
          <p:nvPr/>
        </p:nvSpPr>
        <p:spPr>
          <a:xfrm>
            <a:off x="587186" y="722309"/>
            <a:ext cx="6333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 Rounded MT Bold" panose="020F0704030504030204" pitchFamily="34" charset="0"/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88633D-6A2A-4E96-BB2D-982F16FF3CBE}"/>
              </a:ext>
            </a:extLst>
          </p:cNvPr>
          <p:cNvSpPr txBox="1"/>
          <p:nvPr/>
        </p:nvSpPr>
        <p:spPr>
          <a:xfrm>
            <a:off x="587185" y="2297151"/>
            <a:ext cx="120277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Video Link: </a:t>
            </a:r>
            <a:r>
              <a:rPr lang="en-US" sz="2000" b="1" dirty="0">
                <a:hlinkClick r:id="rId3"/>
              </a:rPr>
              <a:t>https://drive.google.com/file/d/1JpIud-eKHvGcUZSmiaDLJylouVNhkToR/view?usp=sharing</a:t>
            </a:r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IN" sz="2000" b="1" dirty="0"/>
              <a:t>Deployed Link: </a:t>
            </a:r>
            <a:r>
              <a:rPr lang="en-US" sz="2000" b="1" dirty="0">
                <a:hlinkClick r:id="rId4"/>
              </a:rPr>
              <a:t>https://niveshsathi-theta.vercel.app/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6200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18329824-4BB0-48C7-8CD3-5A3189788A3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F5D80C-FC59-4481-8318-432C67CCC5F8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4DC31-CB02-499C-8752-E5B02868A19D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C1482690-77E0-42CF-8C81-65E0999709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BB5B-1B1F-4692-92C7-DD8BF7EB49AA}"/>
              </a:ext>
            </a:extLst>
          </p:cNvPr>
          <p:cNvSpPr txBox="1"/>
          <p:nvPr/>
        </p:nvSpPr>
        <p:spPr>
          <a:xfrm>
            <a:off x="342899" y="881024"/>
            <a:ext cx="6333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 Rounded MT Bold" panose="020F0704030504030204" pitchFamily="34" charset="0"/>
              </a:rPr>
              <a:t>CONCLUSION &amp; FUTURE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1A58A-9117-411C-9951-EBCF50D956E5}"/>
              </a:ext>
            </a:extLst>
          </p:cNvPr>
          <p:cNvSpPr txBox="1"/>
          <p:nvPr/>
        </p:nvSpPr>
        <p:spPr>
          <a:xfrm>
            <a:off x="342899" y="1859339"/>
            <a:ext cx="60873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167439"/>
                </a:solidFill>
              </a:rPr>
              <a:t>NiveshSathi</a:t>
            </a:r>
            <a:r>
              <a:rPr lang="en-US" sz="2000" b="1" dirty="0">
                <a:solidFill>
                  <a:srgbClr val="167439"/>
                </a:solidFill>
              </a:rPr>
              <a:t> </a:t>
            </a:r>
            <a:r>
              <a:rPr lang="en-US" sz="2000" dirty="0"/>
              <a:t>successfully addresses the problem of </a:t>
            </a:r>
            <a:r>
              <a:rPr lang="en-US" sz="2000" b="1" dirty="0"/>
              <a:t>investment fear and inaccessibility</a:t>
            </a:r>
            <a:r>
              <a:rPr lang="en-US" sz="2000" dirty="0"/>
              <a:t> by offering a </a:t>
            </a:r>
            <a:r>
              <a:rPr lang="en-US" sz="2000" b="1" dirty="0"/>
              <a:t>simple, low-risk, and beginner-friendly platform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Future Enhancements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Integration with real financial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Regional language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Offline-friendly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AI-based investment guidance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Gamified financial learning modules</a:t>
            </a:r>
          </a:p>
          <a:p>
            <a:endParaRPr lang="en-IN" sz="2000" dirty="0"/>
          </a:p>
        </p:txBody>
      </p:sp>
      <p:pic>
        <p:nvPicPr>
          <p:cNvPr id="4098" name="Picture 2" descr="Investment Stock Photos, Images and Backgrounds for Free Download">
            <a:extLst>
              <a:ext uri="{FF2B5EF4-FFF2-40B4-BE49-F238E27FC236}">
                <a16:creationId xmlns:a16="http://schemas.microsoft.com/office/drawing/2014/main" id="{D0F9E00C-BB25-4C1C-B795-E54D92AE1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463" y="1997457"/>
            <a:ext cx="5088112" cy="28630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298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;p14" title="hackathon 5.png">
            <a:extLst>
              <a:ext uri="{FF2B5EF4-FFF2-40B4-BE49-F238E27FC236}">
                <a16:creationId xmlns:a16="http://schemas.microsoft.com/office/drawing/2014/main" id="{B12EEA08-53FA-4390-A007-EBE4A51346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-56030" y="0"/>
            <a:ext cx="12304059" cy="425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408AE0-5293-45CC-AA82-1C4C79EFA4C8}"/>
              </a:ext>
            </a:extLst>
          </p:cNvPr>
          <p:cNvSpPr txBox="1"/>
          <p:nvPr/>
        </p:nvSpPr>
        <p:spPr>
          <a:xfrm>
            <a:off x="-56030" y="48558"/>
            <a:ext cx="3809998" cy="37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BYTE QUEST - HACKATHON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9F449-6FA1-4244-9871-1D2F67AC74E5}"/>
              </a:ext>
            </a:extLst>
          </p:cNvPr>
          <p:cNvSpPr txBox="1"/>
          <p:nvPr/>
        </p:nvSpPr>
        <p:spPr>
          <a:xfrm>
            <a:off x="9131512" y="24278"/>
            <a:ext cx="3483429" cy="377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oogle Sans SemiBold"/>
                <a:cs typeface="Arial" panose="020B0604020202020204" pitchFamily="34" charset="0"/>
              </a:rPr>
              <a:t>GFG CAMPUS BODY - RBU</a:t>
            </a:r>
            <a:endParaRPr lang="en-IN" dirty="0">
              <a:solidFill>
                <a:schemeClr val="bg1"/>
              </a:solidFill>
              <a:latin typeface="Google Sans SemiBold"/>
              <a:cs typeface="Arial" panose="020B0604020202020204" pitchFamily="34" charset="0"/>
            </a:endParaRPr>
          </a:p>
        </p:txBody>
      </p:sp>
      <p:pic>
        <p:nvPicPr>
          <p:cNvPr id="7" name="Google Shape;55;p14" title="hackathon 5.png">
            <a:extLst>
              <a:ext uri="{FF2B5EF4-FFF2-40B4-BE49-F238E27FC236}">
                <a16:creationId xmlns:a16="http://schemas.microsoft.com/office/drawing/2014/main" id="{3C20F333-3EDB-474E-B3BF-51623A26D8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97742"/>
          <a:stretch/>
        </p:blipFill>
        <p:spPr>
          <a:xfrm>
            <a:off x="0" y="6548717"/>
            <a:ext cx="12304059" cy="30928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479A5F-B074-4010-87A2-CE3CD5D430C8}"/>
              </a:ext>
            </a:extLst>
          </p:cNvPr>
          <p:cNvSpPr txBox="1"/>
          <p:nvPr/>
        </p:nvSpPr>
        <p:spPr>
          <a:xfrm>
            <a:off x="2929217" y="3380509"/>
            <a:ext cx="6333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Arial Rounded MT Bold" panose="020F07040305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4185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441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Arial Rounded MT Bold</vt:lpstr>
      <vt:lpstr>Calibri</vt:lpstr>
      <vt:lpstr>Calibri Light</vt:lpstr>
      <vt:lpstr>Google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Abdullah Ansari</dc:creator>
  <cp:lastModifiedBy>Abdullah Ansari</cp:lastModifiedBy>
  <cp:revision>18</cp:revision>
  <dcterms:created xsi:type="dcterms:W3CDTF">2026-01-03T16:39:52Z</dcterms:created>
  <dcterms:modified xsi:type="dcterms:W3CDTF">2026-01-04T07:55:06Z</dcterms:modified>
</cp:coreProperties>
</file>