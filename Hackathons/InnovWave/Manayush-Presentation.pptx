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299" r:id="rId2"/>
    <p:sldId id="300" r:id="rId3"/>
    <p:sldId id="301" r:id="rId4"/>
    <p:sldId id="302" r:id="rId5"/>
    <p:sldId id="303" r:id="rId6"/>
    <p:sldId id="306" r:id="rId7"/>
    <p:sldId id="304" r:id="rId8"/>
    <p:sldId id="293" r:id="rId9"/>
    <p:sldId id="294" r:id="rId10"/>
    <p:sldId id="296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65" autoAdjust="0"/>
  </p:normalViewPr>
  <p:slideViewPr>
    <p:cSldViewPr snapToGrid="0" snapToObjects="1" showGuides="1">
      <p:cViewPr>
        <p:scale>
          <a:sx n="50" d="100"/>
          <a:sy n="50" d="100"/>
        </p:scale>
        <p:origin x="1476" y="5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AA6F02-0804-4BE4-ABCA-0B0B8FB9B3EB}"/>
              </a:ext>
            </a:extLst>
          </p:cNvPr>
          <p:cNvSpPr/>
          <p:nvPr/>
        </p:nvSpPr>
        <p:spPr>
          <a:xfrm>
            <a:off x="9615948" y="332464"/>
            <a:ext cx="2576052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39DFCC-DAA7-45E4-9CB7-842541930BFA}"/>
              </a:ext>
            </a:extLst>
          </p:cNvPr>
          <p:cNvSpPr txBox="1"/>
          <p:nvPr/>
        </p:nvSpPr>
        <p:spPr>
          <a:xfrm>
            <a:off x="9765890" y="332464"/>
            <a:ext cx="4852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chemeClr val="bg1"/>
                </a:solidFill>
                <a:latin typeface="Segoe Script" panose="030B0504020000000003" pitchFamily="66" charset="0"/>
              </a:rPr>
              <a:t>Innovwave</a:t>
            </a:r>
            <a:r>
              <a:rPr lang="en-US" b="1" u="sng" dirty="0">
                <a:solidFill>
                  <a:schemeClr val="bg1"/>
                </a:solidFill>
                <a:latin typeface="Segoe Script" panose="030B0504020000000003" pitchFamily="66" charset="0"/>
              </a:rPr>
              <a:t> - 2026</a:t>
            </a:r>
            <a:endParaRPr lang="en-IN" b="1" u="sng" dirty="0">
              <a:solidFill>
                <a:schemeClr val="bg1"/>
              </a:solidFill>
              <a:latin typeface="Segoe Script" panose="030B0504020000000003" pitchFamily="66" charset="0"/>
            </a:endParaRPr>
          </a:p>
          <a:p>
            <a:endParaRPr lang="en-IN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BEAFE55-7AAE-4B1A-A8D1-713C34E30176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2" descr="Creative Idea Illustration - Download SVG, PNG for Business | IconScout">
            <a:extLst>
              <a:ext uri="{FF2B5EF4-FFF2-40B4-BE49-F238E27FC236}">
                <a16:creationId xmlns:a16="http://schemas.microsoft.com/office/drawing/2014/main" id="{AC82B450-7202-4FCE-8B9E-7A54423C4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233" y="1113042"/>
            <a:ext cx="4631915" cy="4631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AC94B8-2C53-4D7E-803F-4DB5E17A684E}"/>
              </a:ext>
            </a:extLst>
          </p:cNvPr>
          <p:cNvSpPr txBox="1"/>
          <p:nvPr/>
        </p:nvSpPr>
        <p:spPr>
          <a:xfrm>
            <a:off x="790576" y="1859339"/>
            <a:ext cx="63845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Manayush</a:t>
            </a:r>
            <a:br>
              <a:rPr lang="en-US" sz="3200" dirty="0"/>
            </a:br>
            <a:r>
              <a:rPr lang="en-US" sz="3200" i="1" dirty="0"/>
              <a:t>A Digital Mental Health Companion for College Students</a:t>
            </a:r>
            <a:endParaRPr lang="en-IN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78AA56-83DA-4090-9028-1CCEC633E8AB}"/>
              </a:ext>
            </a:extLst>
          </p:cNvPr>
          <p:cNvSpPr txBox="1"/>
          <p:nvPr/>
        </p:nvSpPr>
        <p:spPr>
          <a:xfrm>
            <a:off x="790576" y="5144792"/>
            <a:ext cx="7334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Presented by:</a:t>
            </a:r>
          </a:p>
          <a:p>
            <a:r>
              <a:rPr lang="en-IN" sz="2400" b="1" dirty="0"/>
              <a:t>Arshil Masood </a:t>
            </a:r>
            <a:r>
              <a:rPr lang="en-IN" sz="2400" dirty="0"/>
              <a:t>&amp; </a:t>
            </a:r>
            <a:r>
              <a:rPr lang="en-IN" sz="2400" b="1" dirty="0"/>
              <a:t>Abdullah Ansari</a:t>
            </a:r>
            <a:endParaRPr lang="en-IN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6486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21CCE7-FA6A-4FB1-93D9-ED57B8F5E859}"/>
              </a:ext>
            </a:extLst>
          </p:cNvPr>
          <p:cNvSpPr/>
          <p:nvPr/>
        </p:nvSpPr>
        <p:spPr>
          <a:xfrm>
            <a:off x="9615948" y="332464"/>
            <a:ext cx="2576052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48B4E-3040-4A00-810D-B5C5430AC399}"/>
              </a:ext>
            </a:extLst>
          </p:cNvPr>
          <p:cNvSpPr txBox="1"/>
          <p:nvPr/>
        </p:nvSpPr>
        <p:spPr>
          <a:xfrm>
            <a:off x="9765890" y="332464"/>
            <a:ext cx="4852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chemeClr val="bg1"/>
                </a:solidFill>
                <a:latin typeface="Segoe Script" panose="030B0504020000000003" pitchFamily="66" charset="0"/>
              </a:rPr>
              <a:t>Innovwave</a:t>
            </a:r>
            <a:r>
              <a:rPr lang="en-US" b="1" u="sng" dirty="0">
                <a:solidFill>
                  <a:schemeClr val="bg1"/>
                </a:solidFill>
                <a:latin typeface="Segoe Script" panose="030B0504020000000003" pitchFamily="66" charset="0"/>
              </a:rPr>
              <a:t> - 2026</a:t>
            </a:r>
            <a:endParaRPr lang="en-IN" b="1" u="sng" dirty="0">
              <a:solidFill>
                <a:schemeClr val="bg1"/>
              </a:solidFill>
              <a:latin typeface="Segoe Script" panose="030B0504020000000003" pitchFamily="66" charset="0"/>
            </a:endParaRPr>
          </a:p>
          <a:p>
            <a:endParaRPr lang="en-IN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DC8693-F143-4FAB-9950-DA1D1BB8603D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283FDB-A7A5-43FA-A33C-F1057A7AB8AC}"/>
              </a:ext>
            </a:extLst>
          </p:cNvPr>
          <p:cNvSpPr txBox="1"/>
          <p:nvPr/>
        </p:nvSpPr>
        <p:spPr>
          <a:xfrm>
            <a:off x="513324" y="2008413"/>
            <a:ext cx="55826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Academic pressure &amp; future uncertainty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Social isolation &amp; comparison culture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Rising mental health struggles</a:t>
            </a:r>
          </a:p>
          <a:p>
            <a:endParaRPr lang="en-IN" sz="2800" dirty="0"/>
          </a:p>
        </p:txBody>
      </p:sp>
      <p:pic>
        <p:nvPicPr>
          <p:cNvPr id="11" name="Picture 2" descr="Why Mental Health Matters for Colleges and Universities">
            <a:extLst>
              <a:ext uri="{FF2B5EF4-FFF2-40B4-BE49-F238E27FC236}">
                <a16:creationId xmlns:a16="http://schemas.microsoft.com/office/drawing/2014/main" id="{71D36B04-7580-4A5C-8A33-86524D9EA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1036249"/>
            <a:ext cx="6554226" cy="436948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C2061B-C549-4777-9A89-DCC4F9F40603}"/>
              </a:ext>
            </a:extLst>
          </p:cNvPr>
          <p:cNvSpPr txBox="1"/>
          <p:nvPr/>
        </p:nvSpPr>
        <p:spPr>
          <a:xfrm>
            <a:off x="513324" y="1168048"/>
            <a:ext cx="7334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The Problem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36E10C-3976-4B93-8025-54DCEEDB8041}"/>
              </a:ext>
            </a:extLst>
          </p:cNvPr>
          <p:cNvSpPr txBox="1"/>
          <p:nvPr/>
        </p:nvSpPr>
        <p:spPr>
          <a:xfrm>
            <a:off x="4180449" y="5689952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Students often suffer in silence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3565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917A72-4387-430F-9C9D-E5816CD52695}"/>
              </a:ext>
            </a:extLst>
          </p:cNvPr>
          <p:cNvSpPr/>
          <p:nvPr/>
        </p:nvSpPr>
        <p:spPr>
          <a:xfrm>
            <a:off x="9615948" y="332464"/>
            <a:ext cx="2576052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BA61D4-5A37-4232-91D3-5DE8156D16B1}"/>
              </a:ext>
            </a:extLst>
          </p:cNvPr>
          <p:cNvSpPr txBox="1"/>
          <p:nvPr/>
        </p:nvSpPr>
        <p:spPr>
          <a:xfrm>
            <a:off x="9765890" y="332464"/>
            <a:ext cx="4852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chemeClr val="bg1"/>
                </a:solidFill>
                <a:latin typeface="Segoe Script" panose="030B0504020000000003" pitchFamily="66" charset="0"/>
              </a:rPr>
              <a:t>Innovwave</a:t>
            </a:r>
            <a:r>
              <a:rPr lang="en-US" b="1" u="sng" dirty="0">
                <a:solidFill>
                  <a:schemeClr val="bg1"/>
                </a:solidFill>
                <a:latin typeface="Segoe Script" panose="030B0504020000000003" pitchFamily="66" charset="0"/>
              </a:rPr>
              <a:t> - 2026</a:t>
            </a:r>
            <a:endParaRPr lang="en-IN" b="1" u="sng" dirty="0">
              <a:solidFill>
                <a:schemeClr val="bg1"/>
              </a:solidFill>
              <a:latin typeface="Segoe Script" panose="030B0504020000000003" pitchFamily="66" charset="0"/>
            </a:endParaRPr>
          </a:p>
          <a:p>
            <a:endParaRPr lang="en-IN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58DFB9-324F-4BB4-8817-052D4060C3FE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32A46-2758-448C-B1AD-856FB1CC4C22}"/>
              </a:ext>
            </a:extLst>
          </p:cNvPr>
          <p:cNvSpPr txBox="1"/>
          <p:nvPr/>
        </p:nvSpPr>
        <p:spPr>
          <a:xfrm>
            <a:off x="646674" y="2486694"/>
            <a:ext cx="55826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Limited availability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Stigma around seeking help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Accessed too late</a:t>
            </a:r>
            <a:endParaRPr lang="en-IN" sz="2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8C5DDB-FBC7-4F64-BE21-5784F66BAA05}"/>
              </a:ext>
            </a:extLst>
          </p:cNvPr>
          <p:cNvSpPr txBox="1"/>
          <p:nvPr/>
        </p:nvSpPr>
        <p:spPr>
          <a:xfrm>
            <a:off x="513324" y="1009470"/>
            <a:ext cx="7334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Why Existing Support Falls Short</a:t>
            </a:r>
          </a:p>
        </p:txBody>
      </p:sp>
      <p:pic>
        <p:nvPicPr>
          <p:cNvPr id="4098" name="Picture 2" descr="Different Types Of Counselors: How Can They Help Improve Mental Health? |  BetterHelp">
            <a:extLst>
              <a:ext uri="{FF2B5EF4-FFF2-40B4-BE49-F238E27FC236}">
                <a16:creationId xmlns:a16="http://schemas.microsoft.com/office/drawing/2014/main" id="{4C7CD750-6E5E-4A2A-B520-AD8BBD192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198" y="1594245"/>
            <a:ext cx="5563128" cy="37087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274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7BD869-9F18-4B90-8C35-D0487823C38B}"/>
              </a:ext>
            </a:extLst>
          </p:cNvPr>
          <p:cNvSpPr/>
          <p:nvPr/>
        </p:nvSpPr>
        <p:spPr>
          <a:xfrm>
            <a:off x="9615948" y="332464"/>
            <a:ext cx="2576052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ACC9A0-D2B0-4D22-8917-B97A993EF9BF}"/>
              </a:ext>
            </a:extLst>
          </p:cNvPr>
          <p:cNvSpPr txBox="1"/>
          <p:nvPr/>
        </p:nvSpPr>
        <p:spPr>
          <a:xfrm>
            <a:off x="9765890" y="332464"/>
            <a:ext cx="4852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chemeClr val="bg1"/>
                </a:solidFill>
                <a:latin typeface="Segoe Script" panose="030B0504020000000003" pitchFamily="66" charset="0"/>
              </a:rPr>
              <a:t>Innovwave</a:t>
            </a:r>
            <a:r>
              <a:rPr lang="en-US" b="1" u="sng" dirty="0">
                <a:solidFill>
                  <a:schemeClr val="bg1"/>
                </a:solidFill>
                <a:latin typeface="Segoe Script" panose="030B0504020000000003" pitchFamily="66" charset="0"/>
              </a:rPr>
              <a:t> - 2026</a:t>
            </a:r>
            <a:endParaRPr lang="en-IN" b="1" u="sng" dirty="0">
              <a:solidFill>
                <a:schemeClr val="bg1"/>
              </a:solidFill>
              <a:latin typeface="Segoe Script" panose="030B0504020000000003" pitchFamily="66" charset="0"/>
            </a:endParaRPr>
          </a:p>
          <a:p>
            <a:endParaRPr lang="en-IN" b="1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366AFAF-3F38-4DD6-AC39-1D3E6EB022B2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CAC81E-DD9E-4237-B11E-CC8362A6955C}"/>
              </a:ext>
            </a:extLst>
          </p:cNvPr>
          <p:cNvSpPr txBox="1"/>
          <p:nvPr/>
        </p:nvSpPr>
        <p:spPr>
          <a:xfrm>
            <a:off x="6229350" y="2057022"/>
            <a:ext cx="565262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AI-assisted mental health platform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Safe, stigma-free space for students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Encourages early emotional check-ins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135541-6369-4F04-A3D4-4443DD32D296}"/>
              </a:ext>
            </a:extLst>
          </p:cNvPr>
          <p:cNvSpPr txBox="1"/>
          <p:nvPr/>
        </p:nvSpPr>
        <p:spPr>
          <a:xfrm>
            <a:off x="923925" y="980486"/>
            <a:ext cx="7334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Introducing </a:t>
            </a:r>
            <a:r>
              <a:rPr lang="en-IN" sz="3200" b="1" u="sng" dirty="0" err="1">
                <a:solidFill>
                  <a:srgbClr val="00B050"/>
                </a:solidFill>
              </a:rPr>
              <a:t>Manayush</a:t>
            </a:r>
            <a:endParaRPr lang="en-IN" sz="3200" u="sng" dirty="0">
              <a:solidFill>
                <a:srgbClr val="00B05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EAF91D-7D9E-4525-8F4E-C8CDA7BA45C8}"/>
              </a:ext>
            </a:extLst>
          </p:cNvPr>
          <p:cNvSpPr txBox="1"/>
          <p:nvPr/>
        </p:nvSpPr>
        <p:spPr>
          <a:xfrm>
            <a:off x="-4601601" y="1229602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Students often suffer in silence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7172" name="Picture 4" descr="5,300+ Mental Health App Stock Illustrations, Royalty-Free Vector Graphics  &amp; Clip Art - iStock">
            <a:extLst>
              <a:ext uri="{FF2B5EF4-FFF2-40B4-BE49-F238E27FC236}">
                <a16:creationId xmlns:a16="http://schemas.microsoft.com/office/drawing/2014/main" id="{F3831DF0-E983-4762-BF54-ADA713AD8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565261"/>
            <a:ext cx="5829300" cy="458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51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5C45853-8D61-427C-8DB1-E1ADFA6C9808}"/>
              </a:ext>
            </a:extLst>
          </p:cNvPr>
          <p:cNvSpPr/>
          <p:nvPr/>
        </p:nvSpPr>
        <p:spPr>
          <a:xfrm>
            <a:off x="9615948" y="332464"/>
            <a:ext cx="2576052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A3AC52-F819-4654-912B-E1138D8877E9}"/>
              </a:ext>
            </a:extLst>
          </p:cNvPr>
          <p:cNvSpPr txBox="1"/>
          <p:nvPr/>
        </p:nvSpPr>
        <p:spPr>
          <a:xfrm>
            <a:off x="9765890" y="332464"/>
            <a:ext cx="4852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chemeClr val="bg1"/>
                </a:solidFill>
                <a:latin typeface="Segoe Script" panose="030B0504020000000003" pitchFamily="66" charset="0"/>
              </a:rPr>
              <a:t>Innovwave</a:t>
            </a:r>
            <a:r>
              <a:rPr lang="en-US" b="1" u="sng" dirty="0">
                <a:solidFill>
                  <a:schemeClr val="bg1"/>
                </a:solidFill>
                <a:latin typeface="Segoe Script" panose="030B0504020000000003" pitchFamily="66" charset="0"/>
              </a:rPr>
              <a:t> - 2026</a:t>
            </a:r>
            <a:endParaRPr lang="en-IN" b="1" u="sng" dirty="0">
              <a:solidFill>
                <a:schemeClr val="bg1"/>
              </a:solidFill>
              <a:latin typeface="Segoe Script" panose="030B0504020000000003" pitchFamily="66" charset="0"/>
            </a:endParaRPr>
          </a:p>
          <a:p>
            <a:endParaRPr lang="en-IN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35F4981-0384-462E-A6FD-E862FA6FA623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6F0573-C1DB-4CE6-92BF-1C0AF08CF18D}"/>
              </a:ext>
            </a:extLst>
          </p:cNvPr>
          <p:cNvSpPr txBox="1"/>
          <p:nvPr/>
        </p:nvSpPr>
        <p:spPr>
          <a:xfrm>
            <a:off x="611871" y="1652456"/>
            <a:ext cx="55826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• Mood tracking</a:t>
            </a:r>
            <a:br>
              <a:rPr lang="en-US" sz="2800" dirty="0"/>
            </a:br>
            <a:r>
              <a:rPr lang="en-US" sz="2800" dirty="0"/>
              <a:t>• AI emotional support chat</a:t>
            </a:r>
            <a:br>
              <a:rPr lang="en-US" sz="2800" dirty="0"/>
            </a:br>
            <a:r>
              <a:rPr lang="en-US" sz="2800" dirty="0"/>
              <a:t>• Mindfulness tools</a:t>
            </a:r>
            <a:br>
              <a:rPr lang="en-US" sz="2800" dirty="0"/>
            </a:br>
            <a:r>
              <a:rPr lang="en-US" sz="2800" dirty="0"/>
              <a:t>• Counsellor connect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7CF3A-F696-4031-B9BE-01CA8DB02AC5}"/>
              </a:ext>
            </a:extLst>
          </p:cNvPr>
          <p:cNvSpPr txBox="1"/>
          <p:nvPr/>
        </p:nvSpPr>
        <p:spPr>
          <a:xfrm>
            <a:off x="513324" y="817438"/>
            <a:ext cx="7334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Core Features</a:t>
            </a:r>
            <a:endParaRPr lang="en-US" sz="3200" b="1" u="sn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089F4D-B9C6-488F-909E-877A180E1E71}"/>
              </a:ext>
            </a:extLst>
          </p:cNvPr>
          <p:cNvSpPr txBox="1"/>
          <p:nvPr/>
        </p:nvSpPr>
        <p:spPr>
          <a:xfrm>
            <a:off x="611871" y="3757511"/>
            <a:ext cx="3541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Why It’s Different</a:t>
            </a:r>
            <a:endParaRPr lang="en-US" sz="2800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ADD6A6-1647-4FB4-A20A-A0ED44137CC4}"/>
              </a:ext>
            </a:extLst>
          </p:cNvPr>
          <p:cNvSpPr txBox="1"/>
          <p:nvPr/>
        </p:nvSpPr>
        <p:spPr>
          <a:xfrm>
            <a:off x="613466" y="4379322"/>
            <a:ext cx="73342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• Preventive</a:t>
            </a:r>
            <a:br>
              <a:rPr lang="en-IN" sz="2800" dirty="0"/>
            </a:br>
            <a:r>
              <a:rPr lang="en-IN" sz="2800" dirty="0"/>
              <a:t>• Student-centric</a:t>
            </a:r>
            <a:br>
              <a:rPr lang="en-IN" sz="2800" dirty="0"/>
            </a:br>
            <a:r>
              <a:rPr lang="en-IN" sz="2800" dirty="0"/>
              <a:t>• Privacy-first</a:t>
            </a:r>
          </a:p>
        </p:txBody>
      </p:sp>
      <p:pic>
        <p:nvPicPr>
          <p:cNvPr id="8198" name="Picture 6" descr="Computer screen Images - Free Download on Freepik">
            <a:extLst>
              <a:ext uri="{FF2B5EF4-FFF2-40B4-BE49-F238E27FC236}">
                <a16:creationId xmlns:a16="http://schemas.microsoft.com/office/drawing/2014/main" id="{82F6DE5C-C5CE-491B-85BF-D59F961D0B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8"/>
          <a:stretch/>
        </p:blipFill>
        <p:spPr bwMode="auto">
          <a:xfrm>
            <a:off x="4721817" y="985085"/>
            <a:ext cx="7155180" cy="496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0E3E74B-7601-449C-9D6B-2C08784AE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029" y="1835418"/>
            <a:ext cx="6078625" cy="272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87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3B868547-1665-464E-A4B5-562033269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98" y="1341278"/>
            <a:ext cx="8258505" cy="44012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Solution Overview:</a:t>
            </a:r>
            <a:r>
              <a:rPr lang="en-US" sz="2000" dirty="0"/>
              <a:t> Our platform addresses the lack of accessible, stigma-free psychological support for students by providing AI-first aid, regional language resources, and direct links to institutional counsellors. It will be a platform for students offering mood tracking, AI support, mindfulness exercises, and access to professional counselling.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Problem Addressed:</a:t>
            </a:r>
            <a:r>
              <a:rPr lang="en-US" sz="2000" dirty="0"/>
              <a:t> Helps students manage stress, anxiety, and emotional challenges confidentially and in real-time through our key features.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Innovation &amp; Uniqueness:</a:t>
            </a:r>
          </a:p>
          <a:p>
            <a:r>
              <a:rPr lang="en-IN" sz="2000" b="1" dirty="0"/>
              <a:t>       - </a:t>
            </a:r>
            <a:r>
              <a:rPr lang="en-IN" sz="2000" dirty="0"/>
              <a:t>Interactive, AI-powered, student-centric, and multilingual resources</a:t>
            </a:r>
          </a:p>
          <a:p>
            <a:r>
              <a:rPr lang="en-IN" sz="2000" b="1" dirty="0"/>
              <a:t>       - </a:t>
            </a:r>
            <a:r>
              <a:rPr lang="en-US" sz="2000" dirty="0"/>
              <a:t>Proactive mental health support instead of reactive</a:t>
            </a:r>
            <a:endParaRPr lang="en-IN" sz="2000" dirty="0"/>
          </a:p>
          <a:p>
            <a:r>
              <a:rPr lang="en-IN" sz="2000" b="1" dirty="0"/>
              <a:t>       - </a:t>
            </a:r>
            <a:r>
              <a:rPr lang="en-US" sz="2000" dirty="0"/>
              <a:t>Integrates emotional, educational, and professional resources in one   </a:t>
            </a:r>
          </a:p>
          <a:p>
            <a:r>
              <a:rPr lang="en-US" sz="2000" dirty="0"/>
              <a:t>          platform</a:t>
            </a:r>
            <a:endParaRPr lang="en-IN" sz="2000" b="1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C833DD5-D869-4095-84AE-B96DCB3E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5343B4C9-F1B3-4DD0-8F90-59933D727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902287-4F99-41D0-A3C2-A5EE848CB790}"/>
              </a:ext>
            </a:extLst>
          </p:cNvPr>
          <p:cNvSpPr/>
          <p:nvPr/>
        </p:nvSpPr>
        <p:spPr>
          <a:xfrm>
            <a:off x="9615948" y="332464"/>
            <a:ext cx="2576052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21FF80-65C7-40B1-B3C5-287C469ED014}"/>
              </a:ext>
            </a:extLst>
          </p:cNvPr>
          <p:cNvSpPr txBox="1"/>
          <p:nvPr/>
        </p:nvSpPr>
        <p:spPr>
          <a:xfrm>
            <a:off x="9765890" y="332464"/>
            <a:ext cx="4852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chemeClr val="bg1"/>
                </a:solidFill>
                <a:latin typeface="Segoe Script" panose="030B0504020000000003" pitchFamily="66" charset="0"/>
              </a:rPr>
              <a:t>Innovwave</a:t>
            </a:r>
            <a:r>
              <a:rPr lang="en-US" b="1" u="sng" dirty="0">
                <a:solidFill>
                  <a:schemeClr val="bg1"/>
                </a:solidFill>
                <a:latin typeface="Segoe Script" panose="030B0504020000000003" pitchFamily="66" charset="0"/>
              </a:rPr>
              <a:t> - 2026</a:t>
            </a:r>
            <a:endParaRPr lang="en-IN" b="1" u="sng" dirty="0">
              <a:solidFill>
                <a:schemeClr val="bg1"/>
              </a:solidFill>
              <a:latin typeface="Segoe Script" panose="030B0504020000000003" pitchFamily="66" charset="0"/>
            </a:endParaRPr>
          </a:p>
          <a:p>
            <a:endParaRPr lang="en-IN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D74F721-D11C-4619-A31D-13044DE2634B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E471405-BADD-4568-A228-5B62EDFFB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503" y="1784851"/>
            <a:ext cx="3567499" cy="321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09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C245D3-A7E5-4A70-A168-D570438EFBC9}"/>
              </a:ext>
            </a:extLst>
          </p:cNvPr>
          <p:cNvSpPr/>
          <p:nvPr/>
        </p:nvSpPr>
        <p:spPr>
          <a:xfrm>
            <a:off x="9615948" y="332464"/>
            <a:ext cx="2576052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5712AB-A8AC-4A77-B88A-63C25D2C4C0D}"/>
              </a:ext>
            </a:extLst>
          </p:cNvPr>
          <p:cNvSpPr txBox="1"/>
          <p:nvPr/>
        </p:nvSpPr>
        <p:spPr>
          <a:xfrm>
            <a:off x="9765890" y="332464"/>
            <a:ext cx="4852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chemeClr val="bg1"/>
                </a:solidFill>
                <a:latin typeface="Segoe Script" panose="030B0504020000000003" pitchFamily="66" charset="0"/>
              </a:rPr>
              <a:t>Innvowave</a:t>
            </a:r>
            <a:r>
              <a:rPr lang="en-US" b="1" u="sng" dirty="0">
                <a:solidFill>
                  <a:schemeClr val="bg1"/>
                </a:solidFill>
                <a:latin typeface="Segoe Script" panose="030B0504020000000003" pitchFamily="66" charset="0"/>
              </a:rPr>
              <a:t> - 2026</a:t>
            </a:r>
            <a:endParaRPr lang="en-IN" b="1" u="sng" dirty="0">
              <a:solidFill>
                <a:schemeClr val="bg1"/>
              </a:solidFill>
              <a:latin typeface="Segoe Script" panose="030B0504020000000003" pitchFamily="66" charset="0"/>
            </a:endParaRPr>
          </a:p>
          <a:p>
            <a:endParaRPr lang="en-IN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2624E1-C6C3-4922-BCA7-FAD326CF8E3C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0EF8A1-2CB3-43FB-8BCA-9475C914C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85" r="594" b="-3906"/>
          <a:stretch>
            <a:fillRect/>
          </a:stretch>
        </p:blipFill>
        <p:spPr>
          <a:xfrm>
            <a:off x="2201332" y="2885265"/>
            <a:ext cx="9062963" cy="366952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81378285-C6B0-4CAF-A4AC-A05A5462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+mj-lt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925F5AA1-BE70-4BFE-8C56-D44140A43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14" y="1179965"/>
            <a:ext cx="93853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endParaRPr lang="en-US" sz="2800" b="1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E4E2792-9695-48AD-9956-1F8AE622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C857FBF-751A-4CF2-B2A9-C9D6222662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56" t="65570"/>
          <a:stretch>
            <a:fillRect/>
          </a:stretch>
        </p:blipFill>
        <p:spPr>
          <a:xfrm>
            <a:off x="8144328" y="1723900"/>
            <a:ext cx="3298479" cy="7517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2A3A825-9410-4005-9FBA-826DB5809F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40" t="33431" r="9891" b="34738"/>
          <a:stretch>
            <a:fillRect/>
          </a:stretch>
        </p:blipFill>
        <p:spPr>
          <a:xfrm>
            <a:off x="4993034" y="1694140"/>
            <a:ext cx="3040396" cy="6949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2D1BECB-742D-4DDD-9288-67EFA1BF7B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856" b="65570"/>
          <a:stretch>
            <a:fillRect/>
          </a:stretch>
        </p:blipFill>
        <p:spPr>
          <a:xfrm>
            <a:off x="1553775" y="1661305"/>
            <a:ext cx="3298479" cy="751714"/>
          </a:xfrm>
          <a:prstGeom prst="rect">
            <a:avLst/>
          </a:prstGeom>
        </p:spPr>
      </p:pic>
      <p:sp>
        <p:nvSpPr>
          <p:cNvPr id="23" name="TextBox 8">
            <a:extLst>
              <a:ext uri="{FF2B5EF4-FFF2-40B4-BE49-F238E27FC236}">
                <a16:creationId xmlns:a16="http://schemas.microsoft.com/office/drawing/2014/main" id="{73ECFC95-5CC5-4C03-8A64-0F2C8891B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73" y="1200680"/>
            <a:ext cx="938530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+mn-lt"/>
                <a:cs typeface="Arial" panose="020B0604020202020204" pitchFamily="34" charset="0"/>
              </a:rPr>
              <a:t>Technologies :</a:t>
            </a:r>
            <a:endParaRPr lang="en-US" sz="2800" b="1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80E9CE-D39B-42DE-8BEF-A7F4B6020F6C}"/>
              </a:ext>
            </a:extLst>
          </p:cNvPr>
          <p:cNvSpPr txBox="1"/>
          <p:nvPr/>
        </p:nvSpPr>
        <p:spPr>
          <a:xfrm>
            <a:off x="329773" y="2515933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latin typeface="+mn-lt"/>
                <a:cs typeface="Arial" panose="020B0604020202020204" pitchFamily="34" charset="0"/>
              </a:rPr>
              <a:t>Methodology and Flow:</a:t>
            </a:r>
            <a:endParaRPr lang="en-US" sz="2400" b="1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80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2881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6519" y="1359451"/>
            <a:ext cx="112789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Feasibility Analysis:</a:t>
            </a:r>
          </a:p>
          <a:p>
            <a:r>
              <a:rPr lang="en-IN" sz="2000" b="1" dirty="0"/>
              <a:t>               </a:t>
            </a:r>
            <a:r>
              <a:rPr lang="en-IN" sz="2000" dirty="0"/>
              <a:t>1. </a:t>
            </a:r>
            <a:r>
              <a:rPr lang="en-US" sz="2000" b="1" dirty="0"/>
              <a:t>Technical Feasibility:</a:t>
            </a:r>
            <a:r>
              <a:rPr lang="en-US" sz="2000" dirty="0"/>
              <a:t> Can be implemented using HTML, CSS, JS, Tailwind, Node.js, and APIs.</a:t>
            </a:r>
          </a:p>
          <a:p>
            <a:r>
              <a:rPr lang="en-US" sz="2000" b="1" dirty="0"/>
              <a:t>               </a:t>
            </a:r>
            <a:r>
              <a:rPr lang="en-US" sz="2000" dirty="0"/>
              <a:t>2. </a:t>
            </a:r>
            <a:r>
              <a:rPr lang="en-US" sz="2000" b="1" dirty="0"/>
              <a:t>Operational Feasibility:</a:t>
            </a:r>
            <a:r>
              <a:rPr lang="en-US" sz="2000" dirty="0"/>
              <a:t> Students can easily use the platform</a:t>
            </a:r>
          </a:p>
          <a:p>
            <a:r>
              <a:rPr lang="en-US" sz="2000" b="1" dirty="0"/>
              <a:t>               </a:t>
            </a:r>
            <a:r>
              <a:rPr lang="en-US" sz="2000" dirty="0"/>
              <a:t>3. </a:t>
            </a:r>
            <a:r>
              <a:rPr lang="en-US" sz="2000" b="1" dirty="0"/>
              <a:t>Ethical:</a:t>
            </a:r>
            <a:r>
              <a:rPr lang="en-US" sz="2000" dirty="0"/>
              <a:t> Privacy-first, no forced data storage</a:t>
            </a: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Potential challenges and strategies to overcome those challenges:</a:t>
            </a:r>
          </a:p>
          <a:p>
            <a:endParaRPr lang="en-IN" sz="20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7165" y="3320121"/>
          <a:ext cx="10889435" cy="2926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03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Potential Challenges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Strategies to Overcome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🔒 </a:t>
                      </a:r>
                      <a:r>
                        <a:rPr lang="en-US" b="1" dirty="0"/>
                        <a:t>Data Security</a:t>
                      </a:r>
                      <a:r>
                        <a:rPr lang="en-US" dirty="0"/>
                        <a:t>: Sensitive mental health data stored in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Use HTTPS, JWT authentication, and database encryption; comply with privacy norms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🤖 </a:t>
                      </a:r>
                      <a:r>
                        <a:rPr lang="en-US" b="1" dirty="0"/>
                        <a:t>AI Accuracy</a:t>
                      </a:r>
                      <a:r>
                        <a:rPr lang="en-US" dirty="0"/>
                        <a:t>: Mood analysis may not always be precise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Validate AI outputs with simple rules; provide manual feedback 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📉 </a:t>
                      </a:r>
                      <a:r>
                        <a:rPr lang="en-US" b="1"/>
                        <a:t>User Engagement</a:t>
                      </a:r>
                      <a:r>
                        <a:rPr lang="en-US"/>
                        <a:t>: Students may not regularly interact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 Intuitive UI via Tailwind, notifications, gamification, easy navigation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⚙️ </a:t>
                      </a:r>
                      <a:r>
                        <a:rPr lang="en-US" b="1"/>
                        <a:t>Integration Bugs</a:t>
                      </a:r>
                      <a:r>
                        <a:rPr lang="en-US"/>
                        <a:t>: Frontend-backend-AI interaction may fail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Modular development, extensive testing, error logging, staged deployment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BE9D721-02B1-4197-B027-312D59F920D1}"/>
              </a:ext>
            </a:extLst>
          </p:cNvPr>
          <p:cNvSpPr/>
          <p:nvPr/>
        </p:nvSpPr>
        <p:spPr>
          <a:xfrm>
            <a:off x="0" y="6488668"/>
            <a:ext cx="12192000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2A451A-3538-4FBB-B8B6-CDBE363D430E}"/>
              </a:ext>
            </a:extLst>
          </p:cNvPr>
          <p:cNvSpPr/>
          <p:nvPr/>
        </p:nvSpPr>
        <p:spPr>
          <a:xfrm>
            <a:off x="9615948" y="332464"/>
            <a:ext cx="2576052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EFCB71-5494-4F2F-BB7B-02D536660326}"/>
              </a:ext>
            </a:extLst>
          </p:cNvPr>
          <p:cNvSpPr txBox="1"/>
          <p:nvPr/>
        </p:nvSpPr>
        <p:spPr>
          <a:xfrm>
            <a:off x="9765890" y="332464"/>
            <a:ext cx="4852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chemeClr val="bg1"/>
                </a:solidFill>
                <a:latin typeface="Segoe Script" panose="030B0504020000000003" pitchFamily="66" charset="0"/>
              </a:rPr>
              <a:t>Innovwave</a:t>
            </a:r>
            <a:r>
              <a:rPr lang="en-US" b="1" u="sng" dirty="0">
                <a:solidFill>
                  <a:schemeClr val="bg1"/>
                </a:solidFill>
                <a:latin typeface="Segoe Script" panose="030B0504020000000003" pitchFamily="66" charset="0"/>
              </a:rPr>
              <a:t> - 2026</a:t>
            </a:r>
            <a:endParaRPr lang="en-IN" b="1" u="sng" dirty="0">
              <a:solidFill>
                <a:schemeClr val="bg1"/>
              </a:solidFill>
              <a:latin typeface="Segoe Script" panose="030B0504020000000003" pitchFamily="66" charset="0"/>
            </a:endParaRPr>
          </a:p>
          <a:p>
            <a:endParaRPr lang="en-IN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22514" y="332464"/>
            <a:ext cx="11059886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9773" y="1414313"/>
            <a:ext cx="1144380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b="1" u="sng" dirty="0"/>
              <a:t>Scalability and Business Model:</a:t>
            </a:r>
            <a:endParaRPr lang="en-IN" sz="1900" b="1" u="sng" dirty="0"/>
          </a:p>
          <a:p>
            <a:pPr marL="914400" lvl="1" indent="-457200">
              <a:buFont typeface="+mj-lt"/>
              <a:buAutoNum type="arabicPeriod"/>
            </a:pPr>
            <a:r>
              <a:rPr lang="en-US" sz="1900" b="1" dirty="0"/>
              <a:t>T</a:t>
            </a:r>
            <a:r>
              <a:rPr lang="en-IN" sz="2000" b="1" dirty="0" err="1"/>
              <a:t>arget</a:t>
            </a:r>
            <a:r>
              <a:rPr lang="en-IN" sz="2000" b="1" dirty="0"/>
              <a:t> Users</a:t>
            </a:r>
            <a:r>
              <a:rPr lang="en-US" sz="1900" b="1" dirty="0"/>
              <a:t>:</a:t>
            </a:r>
            <a:r>
              <a:rPr lang="en-US" sz="1900" dirty="0"/>
              <a:t> C</a:t>
            </a:r>
            <a:r>
              <a:rPr lang="en-IN" sz="2000" dirty="0" err="1"/>
              <a:t>olleges</a:t>
            </a:r>
            <a:r>
              <a:rPr lang="en-IN" sz="2000" dirty="0"/>
              <a:t> &amp; Universities (B2B)</a:t>
            </a:r>
            <a:r>
              <a:rPr lang="en-US" sz="19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900" b="1" dirty="0"/>
              <a:t>Model:</a:t>
            </a:r>
            <a:r>
              <a:rPr lang="en-US" sz="1900" dirty="0"/>
              <a:t> </a:t>
            </a:r>
            <a:r>
              <a:rPr lang="en-IN" sz="2000" dirty="0"/>
              <a:t>Institution-level licensing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900" b="1" dirty="0"/>
              <a:t>Future Scope:</a:t>
            </a:r>
            <a:r>
              <a:rPr lang="en-US" sz="1900" dirty="0"/>
              <a:t> </a:t>
            </a:r>
            <a:r>
              <a:rPr lang="en-US" sz="2000" dirty="0"/>
              <a:t>Premium analytics for institutions, Government &amp; CSR partnerships, Integration with campus wellness programs</a:t>
            </a:r>
          </a:p>
          <a:p>
            <a:pPr lvl="1"/>
            <a:endParaRPr lang="en-US" sz="19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900" b="1" u="sng" dirty="0"/>
              <a:t>Benefits of the Solution</a:t>
            </a:r>
            <a:r>
              <a:rPr lang="en-IN" sz="1900" b="1" dirty="0"/>
              <a:t>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19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1900" b="1" dirty="0"/>
              <a:t>Social:</a:t>
            </a:r>
            <a:r>
              <a:rPr lang="en-US" sz="1900" dirty="0"/>
              <a:t> Promotes a healthier student community, reduces stigma, and encourages peer support.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900" b="1" dirty="0"/>
              <a:t>Economic:</a:t>
            </a:r>
            <a:r>
              <a:rPr lang="en-US" sz="1900" dirty="0"/>
              <a:t> Reduces long-term costs associated with untreated mental health issues; low-cost digital implementation.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900" b="1" dirty="0"/>
              <a:t>Educational:</a:t>
            </a:r>
            <a:r>
              <a:rPr lang="en-US" sz="1900" dirty="0"/>
              <a:t> Supports better focus, productivity, and academic performance by improving mental well-being.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900" b="1" dirty="0"/>
              <a:t>Technological:</a:t>
            </a:r>
            <a:r>
              <a:rPr lang="en-US" sz="1900" dirty="0"/>
              <a:t> Demonstrates innovative use of AI, web development, and interactive tools for social good.</a:t>
            </a:r>
          </a:p>
          <a:p>
            <a:endParaRPr lang="en-US" sz="19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7ABC87-A1C6-4A78-9233-3DB22AA9E8F6}"/>
              </a:ext>
            </a:extLst>
          </p:cNvPr>
          <p:cNvSpPr/>
          <p:nvPr/>
        </p:nvSpPr>
        <p:spPr>
          <a:xfrm>
            <a:off x="9717547" y="257269"/>
            <a:ext cx="2576052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E65930-E899-47FE-8A24-A2CA5F203C0E}"/>
              </a:ext>
            </a:extLst>
          </p:cNvPr>
          <p:cNvSpPr/>
          <p:nvPr/>
        </p:nvSpPr>
        <p:spPr>
          <a:xfrm>
            <a:off x="0" y="6459640"/>
            <a:ext cx="12192000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709224-CEA1-4D8D-B789-5E43C5D9A1E0}"/>
              </a:ext>
            </a:extLst>
          </p:cNvPr>
          <p:cNvSpPr txBox="1"/>
          <p:nvPr/>
        </p:nvSpPr>
        <p:spPr>
          <a:xfrm>
            <a:off x="9867490" y="303436"/>
            <a:ext cx="4852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chemeClr val="bg1"/>
                </a:solidFill>
                <a:latin typeface="Segoe Script" panose="030B0504020000000003" pitchFamily="66" charset="0"/>
              </a:rPr>
              <a:t>Innovwave</a:t>
            </a:r>
            <a:r>
              <a:rPr lang="en-US" b="1" u="sng" dirty="0">
                <a:solidFill>
                  <a:schemeClr val="bg1"/>
                </a:solidFill>
                <a:latin typeface="Segoe Script" panose="030B0504020000000003" pitchFamily="66" charset="0"/>
              </a:rPr>
              <a:t> - 2026</a:t>
            </a:r>
            <a:endParaRPr lang="en-IN" b="1" u="sng" dirty="0">
              <a:solidFill>
                <a:schemeClr val="bg1"/>
              </a:solidFill>
              <a:latin typeface="Segoe Script" panose="030B0504020000000003" pitchFamily="66" charset="0"/>
            </a:endParaRPr>
          </a:p>
          <a:p>
            <a:endParaRPr lang="en-IN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60650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5556" y="1997839"/>
            <a:ext cx="114408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Research &amp; Articles on Student Mental Health:</a:t>
            </a:r>
          </a:p>
          <a:p>
            <a:r>
              <a:rPr lang="en-US" sz="2000" b="1" dirty="0"/>
              <a:t>         </a:t>
            </a:r>
            <a:r>
              <a:rPr lang="en-US" sz="2000" dirty="0"/>
              <a:t>1. World Health Organization (WHO) – Mental Health of Students</a:t>
            </a:r>
          </a:p>
          <a:p>
            <a:r>
              <a:rPr lang="en-US" sz="2000" dirty="0"/>
              <a:t>         2. National Mental </a:t>
            </a:r>
            <a:r>
              <a:rPr lang="en-US" sz="2000"/>
              <a:t>Health Survey India</a:t>
            </a:r>
            <a:endParaRPr lang="en-US" sz="2000" dirty="0"/>
          </a:p>
          <a:p>
            <a:r>
              <a:rPr lang="en-US" sz="2000" dirty="0"/>
              <a:t>         3. Journal Articles: </a:t>
            </a:r>
            <a:r>
              <a:rPr lang="en-US" sz="2000" i="1" dirty="0"/>
              <a:t>Digital Interventions for Student Mental Health</a:t>
            </a:r>
            <a:r>
              <a:rPr lang="en-US" sz="2000" dirty="0"/>
              <a:t>, </a:t>
            </a:r>
            <a:r>
              <a:rPr lang="en-US" sz="2000" i="1" dirty="0"/>
              <a:t>AI in Mental Health Support</a:t>
            </a:r>
          </a:p>
          <a:p>
            <a:endParaRPr lang="en-US" sz="2000" b="1" i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Additional References:</a:t>
            </a:r>
          </a:p>
          <a:p>
            <a:r>
              <a:rPr lang="en-IN" sz="2000" b="1" i="1" dirty="0"/>
              <a:t>         </a:t>
            </a:r>
            <a:r>
              <a:rPr lang="en-IN" sz="2000" dirty="0"/>
              <a:t>1. </a:t>
            </a:r>
            <a:r>
              <a:rPr lang="en-US" sz="2000" dirty="0"/>
              <a:t>Research papers and case studies on mood tracking apps and AI-driven mental health platforms.</a:t>
            </a:r>
          </a:p>
          <a:p>
            <a:r>
              <a:rPr lang="en-US" sz="2000" b="1" i="1" dirty="0"/>
              <a:t>        </a:t>
            </a:r>
            <a:r>
              <a:rPr lang="en-US" sz="2000" dirty="0"/>
              <a:t> 2. Online blogs and articles for implementation best practices</a:t>
            </a:r>
            <a:endParaRPr lang="en-US" sz="2000" b="1" i="1" dirty="0"/>
          </a:p>
          <a:p>
            <a:endParaRPr lang="en-IN" sz="2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66373C-9DE5-48BD-B534-6CD1C401CAFF}"/>
              </a:ext>
            </a:extLst>
          </p:cNvPr>
          <p:cNvSpPr/>
          <p:nvPr/>
        </p:nvSpPr>
        <p:spPr>
          <a:xfrm>
            <a:off x="9615948" y="303436"/>
            <a:ext cx="2576052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EFA393-2251-4FC5-9545-49E3A6FCEB8C}"/>
              </a:ext>
            </a:extLst>
          </p:cNvPr>
          <p:cNvSpPr/>
          <p:nvPr/>
        </p:nvSpPr>
        <p:spPr>
          <a:xfrm>
            <a:off x="-1" y="6459640"/>
            <a:ext cx="12192000" cy="369332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DC0A91-5C27-4931-B604-2541B1B59192}"/>
              </a:ext>
            </a:extLst>
          </p:cNvPr>
          <p:cNvSpPr txBox="1"/>
          <p:nvPr/>
        </p:nvSpPr>
        <p:spPr>
          <a:xfrm>
            <a:off x="9867490" y="303436"/>
            <a:ext cx="4852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chemeClr val="bg1"/>
                </a:solidFill>
                <a:latin typeface="Segoe Script" panose="030B0504020000000003" pitchFamily="66" charset="0"/>
              </a:rPr>
              <a:t>Innovwave</a:t>
            </a:r>
            <a:r>
              <a:rPr lang="en-US" b="1" u="sng" dirty="0">
                <a:solidFill>
                  <a:schemeClr val="bg1"/>
                </a:solidFill>
                <a:latin typeface="Segoe Script" panose="030B0504020000000003" pitchFamily="66" charset="0"/>
              </a:rPr>
              <a:t> - 2026</a:t>
            </a:r>
            <a:endParaRPr lang="en-IN" b="1" u="sng" dirty="0">
              <a:solidFill>
                <a:schemeClr val="bg1"/>
              </a:solidFill>
              <a:latin typeface="Segoe Script" panose="030B0504020000000003" pitchFamily="66" charset="0"/>
            </a:endParaRPr>
          </a:p>
          <a:p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638</Words>
  <Application>Microsoft Office PowerPoint</Application>
  <PresentationFormat>Widescreen</PresentationFormat>
  <Paragraphs>89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Segoe Script</vt:lpstr>
      <vt:lpstr>Times New Roman</vt:lpstr>
      <vt:lpstr>TradeGothic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Abdullah Ansari</cp:lastModifiedBy>
  <cp:revision>184</cp:revision>
  <dcterms:created xsi:type="dcterms:W3CDTF">2013-12-12T18:46:00Z</dcterms:created>
  <dcterms:modified xsi:type="dcterms:W3CDTF">2026-01-28T16:00:15Z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ABCE30EC51924B0EB6D11D65032F8C2D_12</vt:lpwstr>
  </property>
  <property fmtid="{D5CDD505-2E9C-101B-9397-08002B2CF9AE}" pid="3" name="KSOProductBuildVer">
    <vt:lpwstr>1033-12.2.0.22549</vt:lpwstr>
  </property>
</Properties>
</file>