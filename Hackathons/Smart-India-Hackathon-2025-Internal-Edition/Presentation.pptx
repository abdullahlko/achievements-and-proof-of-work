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65" autoAdjust="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2781" y="1447595"/>
            <a:ext cx="11719200" cy="546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SIH25092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Development of a Digital Mental Health and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Psychological Support System for Students in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Higher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MedTech / BioTech 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 allotted yet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</a:t>
            </a:r>
            <a:r>
              <a:rPr lang="en-IN" sz="2400" dirty="0"/>
              <a:t>CODEVATIVE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Ayushman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7" y="1059580"/>
            <a:ext cx="8554603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Solution Overview:</a:t>
            </a:r>
            <a:r>
              <a:rPr lang="en-US" dirty="0"/>
              <a:t> Our platform addresses the lack of accessible, stigma-free psychological support for students by providing AI-first aid, regional language resources, and direct links to institutional counsellors. It will be a platform for students offering mood tracking, AI support, mindfulness exercises, and access to professional counselling.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Problem Addressed:</a:t>
            </a:r>
            <a:r>
              <a:rPr lang="en-US" dirty="0"/>
              <a:t> Helps students manage stress, anxiety, and emotional challenges confidentially and in real-time through our key features.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Key Features: </a:t>
            </a:r>
          </a:p>
          <a:p>
            <a:r>
              <a:rPr lang="en-IN" b="1" dirty="0"/>
              <a:t>             </a:t>
            </a:r>
            <a:r>
              <a:rPr lang="en-IN" dirty="0"/>
              <a:t>1. </a:t>
            </a:r>
            <a:r>
              <a:rPr lang="en-US" dirty="0"/>
              <a:t>Personalized mood tracking, analytics and </a:t>
            </a:r>
            <a:r>
              <a:rPr lang="en-IN" dirty="0"/>
              <a:t>AI-driven emotional support chat</a:t>
            </a:r>
            <a:endParaRPr lang="en-US" dirty="0"/>
          </a:p>
          <a:p>
            <a:r>
              <a:rPr lang="en-US" b="1" dirty="0"/>
              <a:t>             </a:t>
            </a:r>
            <a:r>
              <a:rPr lang="en-US" dirty="0"/>
              <a:t>2. Confidential Booking System and Admin Dashboard</a:t>
            </a:r>
          </a:p>
          <a:p>
            <a:r>
              <a:rPr lang="en-US" dirty="0"/>
              <a:t>             </a:t>
            </a:r>
            <a:r>
              <a:rPr lang="en-IN" dirty="0"/>
              <a:t>3. </a:t>
            </a:r>
            <a:r>
              <a:rPr lang="en-US" dirty="0"/>
              <a:t>Guided mindfulness and stress-relief exercises</a:t>
            </a:r>
            <a:endParaRPr lang="en-IN" dirty="0"/>
          </a:p>
          <a:p>
            <a:r>
              <a:rPr lang="en-IN" b="1" dirty="0"/>
              <a:t>            </a:t>
            </a:r>
            <a:r>
              <a:rPr lang="en-IN" dirty="0"/>
              <a:t> 4. </a:t>
            </a:r>
            <a:r>
              <a:rPr lang="en-US" dirty="0"/>
              <a:t>Access to professional counselling and peer support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Innovation &amp; Uniqueness:</a:t>
            </a:r>
          </a:p>
          <a:p>
            <a:r>
              <a:rPr lang="en-IN" b="1" dirty="0"/>
              <a:t>             </a:t>
            </a:r>
            <a:r>
              <a:rPr lang="en-IN" dirty="0"/>
              <a:t>1. Interactive, AI-powered, student-centric, and multilingual resources</a:t>
            </a:r>
          </a:p>
          <a:p>
            <a:r>
              <a:rPr lang="en-IN" b="1" dirty="0"/>
              <a:t>             </a:t>
            </a:r>
            <a:r>
              <a:rPr lang="en-IN" dirty="0"/>
              <a:t>2. </a:t>
            </a:r>
            <a:r>
              <a:rPr lang="en-US" dirty="0"/>
              <a:t>Proactive mental health support instead of reactive</a:t>
            </a:r>
            <a:endParaRPr lang="en-IN" dirty="0"/>
          </a:p>
          <a:p>
            <a:r>
              <a:rPr lang="en-IN" b="1" dirty="0"/>
              <a:t>             </a:t>
            </a:r>
            <a:r>
              <a:rPr lang="en-IN" dirty="0"/>
              <a:t>3. </a:t>
            </a:r>
            <a:r>
              <a:rPr lang="en-US" dirty="0"/>
              <a:t>Integrates emotional, educational, and professional resources in one platform</a:t>
            </a:r>
            <a:endParaRPr lang="en-IN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4420F5-BEFF-47E6-A76E-D84FE181A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175" y="2047875"/>
            <a:ext cx="3411311" cy="3762376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A5B5EA50-6F39-4AE4-A1C9-7E5579970E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92933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CODEVATIVE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6066" y="1284687"/>
            <a:ext cx="93853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+mn-lt"/>
                <a:cs typeface="Arial" pitchFamily="34" charset="0"/>
              </a:rPr>
              <a:t>   Technologies to be used:                                          Methodology and Flow:</a:t>
            </a:r>
          </a:p>
          <a:p>
            <a:pPr algn="just"/>
            <a:endParaRPr lang="en-US" sz="2000" b="1" dirty="0">
              <a:latin typeface="+mn-lt"/>
              <a:cs typeface="Arial" pitchFamily="34" charset="0"/>
            </a:endParaRPr>
          </a:p>
          <a:p>
            <a:pPr algn="just"/>
            <a:endParaRPr lang="en-US" sz="2800" b="1" dirty="0">
              <a:latin typeface="+mn-lt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A2564-F95C-4285-A889-97CEAC3B3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84828"/>
            <a:ext cx="5676900" cy="3349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4FC52C-3651-47F3-80DA-D1C71D57C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00" y="1854073"/>
            <a:ext cx="5676900" cy="3909550"/>
          </a:xfrm>
          <a:prstGeom prst="rect">
            <a:avLst/>
          </a:prstGeom>
        </p:spPr>
      </p:pic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D5401D4C-7263-43FF-988C-1B03D94F28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92933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CODEVATIVE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6FF890-70F4-4D71-A26C-03E1E727EF40}"/>
              </a:ext>
            </a:extLst>
          </p:cNvPr>
          <p:cNvSpPr txBox="1"/>
          <p:nvPr/>
        </p:nvSpPr>
        <p:spPr>
          <a:xfrm>
            <a:off x="456519" y="1359451"/>
            <a:ext cx="112789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Feasibility Analysis:</a:t>
            </a:r>
          </a:p>
          <a:p>
            <a:r>
              <a:rPr lang="en-IN" sz="2000" b="1" dirty="0"/>
              <a:t>               </a:t>
            </a:r>
            <a:r>
              <a:rPr lang="en-IN" sz="2000" dirty="0"/>
              <a:t>1. </a:t>
            </a:r>
            <a:r>
              <a:rPr lang="en-US" sz="2000" b="1" dirty="0"/>
              <a:t>Technical Feasibility:</a:t>
            </a:r>
            <a:r>
              <a:rPr lang="en-US" sz="2000" dirty="0"/>
              <a:t> Can be implemented using HTML, CSS, JS, Tailwind, Node.js, and APIs.</a:t>
            </a:r>
          </a:p>
          <a:p>
            <a:r>
              <a:rPr lang="en-US" sz="2000" b="1" dirty="0"/>
              <a:t>               </a:t>
            </a:r>
            <a:r>
              <a:rPr lang="en-US" sz="2000" dirty="0"/>
              <a:t>2. </a:t>
            </a:r>
            <a:r>
              <a:rPr lang="en-US" sz="2000" b="1" dirty="0"/>
              <a:t>Operational Feasibility:</a:t>
            </a:r>
            <a:r>
              <a:rPr lang="en-US" sz="2000" dirty="0"/>
              <a:t> Students can easily use the platform</a:t>
            </a:r>
          </a:p>
          <a:p>
            <a:r>
              <a:rPr lang="en-US" sz="2000" b="1" dirty="0"/>
              <a:t>               </a:t>
            </a:r>
            <a:r>
              <a:rPr lang="en-US" sz="2000" dirty="0"/>
              <a:t>3. </a:t>
            </a:r>
            <a:r>
              <a:rPr lang="en-US" sz="2000" b="1" dirty="0"/>
              <a:t>Schedule Feasibility:</a:t>
            </a:r>
            <a:r>
              <a:rPr lang="en-US" sz="2000" dirty="0"/>
              <a:t> Can be built as a working prototype within hackathon timeline.</a:t>
            </a:r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Potential challenges and strategies to overcome those challenges:</a:t>
            </a:r>
          </a:p>
          <a:p>
            <a:endParaRPr lang="en-IN" sz="2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CE0E3E-1335-425D-88AE-F3EBBC22D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469242"/>
              </p:ext>
            </p:extLst>
          </p:nvPr>
        </p:nvGraphicFramePr>
        <p:xfrm>
          <a:off x="763800" y="3320121"/>
          <a:ext cx="10972800" cy="292608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365727656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4040566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Potential Challenges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Strategies to Overcome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907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🔒 </a:t>
                      </a:r>
                      <a:r>
                        <a:rPr lang="en-US" b="1"/>
                        <a:t>Data Security</a:t>
                      </a:r>
                      <a:r>
                        <a:rPr lang="en-US"/>
                        <a:t>: Sensitive mental health data stored in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Use HTTPS, JWT authentication, and database encryption; comply with privacy norms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054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🤖 </a:t>
                      </a:r>
                      <a:r>
                        <a:rPr lang="en-US" b="1"/>
                        <a:t>AI Accuracy</a:t>
                      </a:r>
                      <a:r>
                        <a:rPr lang="en-US"/>
                        <a:t>: Mood analysis may not always be precise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Validate AI outputs with simple rules; provide manual feedback 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77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📉 </a:t>
                      </a:r>
                      <a:r>
                        <a:rPr lang="en-US" b="1"/>
                        <a:t>User Engagement</a:t>
                      </a:r>
                      <a:r>
                        <a:rPr lang="en-US"/>
                        <a:t>: Students may not regularly interact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 Intuitive UI via Tailwind, notifications, gamification, easy navigation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543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⚙️ </a:t>
                      </a:r>
                      <a:r>
                        <a:rPr lang="en-US" b="1"/>
                        <a:t>Integration Bugs</a:t>
                      </a:r>
                      <a:r>
                        <a:rPr lang="en-US"/>
                        <a:t>: Frontend-backend-AI interaction may 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Modular development, extensive testing, error logging, staged 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807478"/>
                  </a:ext>
                </a:extLst>
              </a:tr>
            </a:tbl>
          </a:graphicData>
        </a:graphic>
      </p:graphicFrame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EC28284D-B1AD-4133-B0A6-18A2ADF1C36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92933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CODEVATIVE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9238F4-5263-45EC-B665-C94FB8E9018B}"/>
              </a:ext>
            </a:extLst>
          </p:cNvPr>
          <p:cNvSpPr txBox="1"/>
          <p:nvPr/>
        </p:nvSpPr>
        <p:spPr>
          <a:xfrm>
            <a:off x="329773" y="1089167"/>
            <a:ext cx="1144380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u="sng" dirty="0"/>
              <a:t>Potential Impact on Target Audience</a:t>
            </a:r>
            <a:r>
              <a:rPr lang="en-US" sz="2000" b="1" dirty="0"/>
              <a:t> </a:t>
            </a:r>
            <a:r>
              <a:rPr lang="en-US" sz="2000" b="1" u="sng" dirty="0"/>
              <a:t>:</a:t>
            </a:r>
            <a:endParaRPr lang="en-IN" sz="2000" b="1" u="sng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/>
              <a:t>Enhanced Mental Well-being:</a:t>
            </a:r>
            <a:r>
              <a:rPr lang="en-US" sz="2000" dirty="0"/>
              <a:t> Helps students manage stress, anxiety, and emotional challenges   effectively.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/>
              <a:t>Early Intervention:</a:t>
            </a:r>
            <a:r>
              <a:rPr lang="en-US" sz="2000" dirty="0"/>
              <a:t> Mood tracking and AI suggestions allow timely support, reducing mental health crises.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/>
              <a:t>Increased Awareness:</a:t>
            </a:r>
            <a:r>
              <a:rPr lang="en-US" sz="2000" dirty="0"/>
              <a:t> Educates students about mental health resources and coping strategies.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/>
              <a:t>Accessible &amp; Inclusive:</a:t>
            </a:r>
            <a:r>
              <a:rPr lang="en-US" sz="2000" dirty="0"/>
              <a:t> Platform is available anytime, anywhere, supporting all students including those hesitant to seek in-person help.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u="sng" dirty="0"/>
              <a:t>Benefits of the Solution</a:t>
            </a:r>
            <a:r>
              <a:rPr lang="en-IN" sz="2000" b="1" dirty="0"/>
              <a:t> 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/>
              <a:t>Social:</a:t>
            </a:r>
            <a:r>
              <a:rPr lang="en-US" sz="2000" dirty="0"/>
              <a:t> Promotes a healthier student community, reduces stigma, and encourages peer support.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/>
              <a:t>Economic:</a:t>
            </a:r>
            <a:r>
              <a:rPr lang="en-US" sz="2000" dirty="0"/>
              <a:t> Reduces long-term costs associated with untreated mental health issues; low-cost digital implementation.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/>
              <a:t>Educational:</a:t>
            </a:r>
            <a:r>
              <a:rPr lang="en-US" sz="2000" dirty="0"/>
              <a:t> Supports better focus, productivity, and academic performance by improving mental well-being.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/>
              <a:t>Technological:</a:t>
            </a:r>
            <a:r>
              <a:rPr lang="en-US" sz="2000" dirty="0"/>
              <a:t> Demonstrates innovative use of AI, web development, and interactive tools for social good.</a:t>
            </a:r>
          </a:p>
          <a:p>
            <a:endParaRPr lang="en-US" sz="2000" dirty="0"/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8F85786C-7516-4646-98B5-DB34FC015C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92933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CODEVATIVE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20A2CA-E254-403A-B18C-ABBF25C47505}"/>
              </a:ext>
            </a:extLst>
          </p:cNvPr>
          <p:cNvSpPr txBox="1"/>
          <p:nvPr/>
        </p:nvSpPr>
        <p:spPr>
          <a:xfrm>
            <a:off x="375556" y="1997839"/>
            <a:ext cx="114408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Research &amp; Articles on Student Mental Health:</a:t>
            </a:r>
          </a:p>
          <a:p>
            <a:r>
              <a:rPr lang="en-US" sz="2000" b="1" dirty="0"/>
              <a:t>         </a:t>
            </a:r>
            <a:r>
              <a:rPr lang="en-US" sz="2000" dirty="0"/>
              <a:t>1. World Health Organization (WHO) – Mental Health of Students</a:t>
            </a:r>
          </a:p>
          <a:p>
            <a:r>
              <a:rPr lang="en-US" sz="2000" dirty="0"/>
              <a:t>         2. National Mental </a:t>
            </a:r>
            <a:r>
              <a:rPr lang="en-US" sz="2000"/>
              <a:t>Health Survey India</a:t>
            </a:r>
            <a:endParaRPr lang="en-US" sz="2000" dirty="0"/>
          </a:p>
          <a:p>
            <a:r>
              <a:rPr lang="en-US" sz="2000" dirty="0"/>
              <a:t>         3. Journal Articles: </a:t>
            </a:r>
            <a:r>
              <a:rPr lang="en-US" sz="2000" i="1" dirty="0"/>
              <a:t>Digital Interventions for Student Mental Health</a:t>
            </a:r>
            <a:r>
              <a:rPr lang="en-US" sz="2000" dirty="0"/>
              <a:t>, </a:t>
            </a:r>
            <a:r>
              <a:rPr lang="en-US" sz="2000" i="1" dirty="0"/>
              <a:t>AI in Mental Health Support</a:t>
            </a:r>
          </a:p>
          <a:p>
            <a:endParaRPr lang="en-US" sz="2000" b="1" i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Additional References:</a:t>
            </a:r>
          </a:p>
          <a:p>
            <a:r>
              <a:rPr lang="en-IN" sz="2000" b="1" i="1" dirty="0"/>
              <a:t>         </a:t>
            </a:r>
            <a:r>
              <a:rPr lang="en-IN" sz="2000" dirty="0"/>
              <a:t>1. </a:t>
            </a:r>
            <a:r>
              <a:rPr lang="en-US" sz="2000" dirty="0"/>
              <a:t>Research papers and case studies on mood tracking apps and AI-driven mental health platforms.</a:t>
            </a:r>
          </a:p>
          <a:p>
            <a:r>
              <a:rPr lang="en-US" sz="2000" b="1" i="1" dirty="0"/>
              <a:t>        </a:t>
            </a:r>
            <a:r>
              <a:rPr lang="en-US" sz="2000" dirty="0"/>
              <a:t> 2. Online blogs and articles for implementation best practices</a:t>
            </a:r>
            <a:endParaRPr lang="en-US" sz="2000" b="1" i="1" dirty="0"/>
          </a:p>
          <a:p>
            <a:endParaRPr lang="en-IN" sz="2000" dirty="0"/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734EB431-8FE5-4A9E-9AD4-453A3A4633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92933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CODEVATIVE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7667</TotalTime>
  <Words>661</Words>
  <Application>Microsoft Office PowerPoint</Application>
  <PresentationFormat>Widescreen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Ayushman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Abdullah Ansari</cp:lastModifiedBy>
  <cp:revision>159</cp:revision>
  <dcterms:created xsi:type="dcterms:W3CDTF">2013-12-12T18:46:50Z</dcterms:created>
  <dcterms:modified xsi:type="dcterms:W3CDTF">2026-08-18T03:49:03Z</dcterms:modified>
  <cp:category/>
</cp:coreProperties>
</file>